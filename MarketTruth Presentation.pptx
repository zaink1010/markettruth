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b57916064_3_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g3fb57916064_3_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fb57916064_3_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b57916064_3_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" name="Google Shape;64;g3fb57916064_3_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g3fb57916064_3_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b57916064_3_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" name="Google Shape;77;g3fb57916064_3_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g3fb57916064_3_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b57916064_3_3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" name="Google Shape;86;g3fb57916064_3_3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fb57916064_3_3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b57916064_3_4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" name="Google Shape;99;g3fb57916064_3_4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fb57916064_3_4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b57916064_3_5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g3fb57916064_3_5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fb57916064_3_5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b57916064_3_6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" name="Google Shape;126;g3fb57916064_3_6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fb57916064_3_6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b57916064_3_7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" name="Google Shape;136;g3fb57916064_3_7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fb57916064_3_7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57916064_3_8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6" name="Google Shape;146;g3fb57916064_3_8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fb57916064_3_8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b57916064_3_9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6" name="Google Shape;156;g3fb57916064_3_9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fb57916064_3_9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57916064_3_10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9" name="Google Shape;169;g3fb57916064_3_10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fb57916064_3_10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b57916064_3_15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8" name="Google Shape;178;g3fb57916064_3_15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fb57916064_3_15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b57916064_3_1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g3fb57916064_3_1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fb57916064_3_1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fb57916064_3_1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7" name="Google Shape;207;g3fb57916064_3_1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fb57916064_3_1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fb57916064_3_13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7" name="Google Shape;217;g3fb57916064_3_13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fb57916064_3_13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fb57916064_3_16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3" name="Google Shape;233;g3fb57916064_3_16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fb57916064_3_16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826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542925" y="464344"/>
            <a:ext cx="8072438" cy="8215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8" name="Google Shape;58;p15"/>
          <p:cNvSpPr/>
          <p:nvPr/>
        </p:nvSpPr>
        <p:spPr>
          <a:xfrm>
            <a:off x="8286750" y="4679156"/>
            <a:ext cx="39290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A9B6C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100"/>
          </a:p>
        </p:txBody>
      </p:sp>
      <p:sp>
        <p:nvSpPr>
          <p:cNvPr id="59" name="Google Shape;59;p15"/>
          <p:cNvSpPr/>
          <p:nvPr/>
        </p:nvSpPr>
        <p:spPr>
          <a:xfrm>
            <a:off x="542925" y="1178719"/>
            <a:ext cx="7965281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91E5C3"/>
                </a:solidFill>
                <a:latin typeface="Arial"/>
                <a:ea typeface="Arial"/>
                <a:cs typeface="Arial"/>
                <a:sym typeface="Arial"/>
              </a:rPr>
              <a:t>MARKET TRUTH</a:t>
            </a:r>
            <a:endParaRPr sz="1100"/>
          </a:p>
        </p:txBody>
      </p:sp>
      <p:sp>
        <p:nvSpPr>
          <p:cNvPr id="60" name="Google Shape;60;p15"/>
          <p:cNvSpPr/>
          <p:nvPr/>
        </p:nvSpPr>
        <p:spPr>
          <a:xfrm>
            <a:off x="571500" y="2286000"/>
            <a:ext cx="7500938" cy="121443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rPr>
              <a:t>A simpler way to understand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rPr>
              <a:t>market news</a:t>
            </a:r>
            <a:endParaRPr sz="1100"/>
          </a:p>
        </p:txBody>
      </p:sp>
      <p:sp>
        <p:nvSpPr>
          <p:cNvPr id="61" name="Google Shape;61;p15"/>
          <p:cNvSpPr/>
          <p:nvPr/>
        </p:nvSpPr>
        <p:spPr>
          <a:xfrm>
            <a:off x="571500" y="4136231"/>
            <a:ext cx="714375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A9B6C1"/>
                </a:solidFill>
                <a:latin typeface="Arial"/>
                <a:ea typeface="Arial"/>
                <a:cs typeface="Arial"/>
                <a:sym typeface="Arial"/>
              </a:rPr>
              <a:t>Web application overview  </a:t>
            </a:r>
            <a:r>
              <a:rPr lang="en">
                <a:solidFill>
                  <a:srgbClr val="A9B6C1"/>
                </a:solidFill>
              </a:rPr>
              <a:t>—  Zain Khaliq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2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/>
          <p:nvPr/>
        </p:nvSpPr>
        <p:spPr>
          <a:xfrm>
            <a:off x="542925" y="464344"/>
            <a:ext cx="8072438" cy="8215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B1826"/>
                </a:solidFill>
                <a:latin typeface="Arial"/>
                <a:ea typeface="Arial"/>
                <a:cs typeface="Arial"/>
                <a:sym typeface="Arial"/>
              </a:rPr>
              <a:t>Market news can be hard to sort through</a:t>
            </a:r>
            <a:endParaRPr sz="1100"/>
          </a:p>
        </p:txBody>
      </p:sp>
      <p:sp>
        <p:nvSpPr>
          <p:cNvPr id="68" name="Google Shape;68;p16"/>
          <p:cNvSpPr/>
          <p:nvPr/>
        </p:nvSpPr>
        <p:spPr>
          <a:xfrm>
            <a:off x="8286750" y="4679156"/>
            <a:ext cx="39290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50606D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100"/>
          </a:p>
        </p:txBody>
      </p:sp>
      <p:sp>
        <p:nvSpPr>
          <p:cNvPr id="69" name="Google Shape;69;p16"/>
          <p:cNvSpPr/>
          <p:nvPr/>
        </p:nvSpPr>
        <p:spPr>
          <a:xfrm>
            <a:off x="557213" y="1557338"/>
            <a:ext cx="2500313" cy="39290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25765E"/>
                </a:solidFill>
                <a:latin typeface="Arial"/>
                <a:ea typeface="Arial"/>
                <a:cs typeface="Arial"/>
                <a:sym typeface="Arial"/>
              </a:rPr>
              <a:t>Too much information</a:t>
            </a:r>
            <a:endParaRPr sz="1100"/>
          </a:p>
        </p:txBody>
      </p:sp>
      <p:sp>
        <p:nvSpPr>
          <p:cNvPr id="70" name="Google Shape;70;p16"/>
          <p:cNvSpPr/>
          <p:nvPr/>
        </p:nvSpPr>
        <p:spPr>
          <a:xfrm>
            <a:off x="3321844" y="1557338"/>
            <a:ext cx="50006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0B1826"/>
                </a:solidFill>
                <a:latin typeface="Arial"/>
                <a:ea typeface="Arial"/>
                <a:cs typeface="Arial"/>
                <a:sym typeface="Arial"/>
              </a:rPr>
              <a:t>Many headlines compete for our attention.</a:t>
            </a:r>
            <a:endParaRPr sz="1100"/>
          </a:p>
        </p:txBody>
      </p:sp>
      <p:sp>
        <p:nvSpPr>
          <p:cNvPr id="71" name="Google Shape;71;p16"/>
          <p:cNvSpPr/>
          <p:nvPr/>
        </p:nvSpPr>
        <p:spPr>
          <a:xfrm>
            <a:off x="557213" y="2471738"/>
            <a:ext cx="2500313" cy="39290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25765E"/>
                </a:solidFill>
                <a:latin typeface="Arial"/>
                <a:ea typeface="Arial"/>
                <a:cs typeface="Arial"/>
                <a:sym typeface="Arial"/>
              </a:rPr>
              <a:t>Unclear reliability</a:t>
            </a:r>
            <a:endParaRPr sz="1100"/>
          </a:p>
        </p:txBody>
      </p:sp>
      <p:sp>
        <p:nvSpPr>
          <p:cNvPr id="72" name="Google Shape;72;p16"/>
          <p:cNvSpPr/>
          <p:nvPr/>
        </p:nvSpPr>
        <p:spPr>
          <a:xfrm>
            <a:off x="3321844" y="2471738"/>
            <a:ext cx="50006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0B1826"/>
                </a:solidFill>
                <a:latin typeface="Arial"/>
                <a:ea typeface="Arial"/>
                <a:cs typeface="Arial"/>
                <a:sym typeface="Arial"/>
              </a:rPr>
              <a:t>A strong claim may have weak support.</a:t>
            </a:r>
            <a:endParaRPr sz="1100"/>
          </a:p>
        </p:txBody>
      </p:sp>
      <p:sp>
        <p:nvSpPr>
          <p:cNvPr id="73" name="Google Shape;73;p16"/>
          <p:cNvSpPr/>
          <p:nvPr/>
        </p:nvSpPr>
        <p:spPr>
          <a:xfrm>
            <a:off x="557213" y="3386138"/>
            <a:ext cx="2500313" cy="39290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25765E"/>
                </a:solidFill>
                <a:latin typeface="Arial"/>
                <a:ea typeface="Arial"/>
                <a:cs typeface="Arial"/>
                <a:sym typeface="Arial"/>
              </a:rPr>
              <a:t>Missing context</a:t>
            </a:r>
            <a:endParaRPr sz="1100"/>
          </a:p>
        </p:txBody>
      </p:sp>
      <p:sp>
        <p:nvSpPr>
          <p:cNvPr id="74" name="Google Shape;74;p16"/>
          <p:cNvSpPr/>
          <p:nvPr/>
        </p:nvSpPr>
        <p:spPr>
          <a:xfrm>
            <a:off x="3321844" y="3386138"/>
            <a:ext cx="50006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0B1826"/>
                </a:solidFill>
                <a:latin typeface="Arial"/>
                <a:ea typeface="Arial"/>
                <a:cs typeface="Arial"/>
                <a:sym typeface="Arial"/>
              </a:rPr>
              <a:t>It can be hard to see why a story matters.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826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/>
          <p:nvPr/>
        </p:nvSpPr>
        <p:spPr>
          <a:xfrm>
            <a:off x="542925" y="464344"/>
            <a:ext cx="8072438" cy="8215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rPr>
              <a:t>What Market Truth does</a:t>
            </a:r>
            <a:endParaRPr sz="1100"/>
          </a:p>
        </p:txBody>
      </p:sp>
      <p:sp>
        <p:nvSpPr>
          <p:cNvPr id="81" name="Google Shape;81;p17"/>
          <p:cNvSpPr/>
          <p:nvPr/>
        </p:nvSpPr>
        <p:spPr>
          <a:xfrm>
            <a:off x="8286750" y="4679156"/>
            <a:ext cx="39290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A9B6C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100"/>
          </a:p>
        </p:txBody>
      </p:sp>
      <p:sp>
        <p:nvSpPr>
          <p:cNvPr id="82" name="Google Shape;82;p17"/>
          <p:cNvSpPr/>
          <p:nvPr/>
        </p:nvSpPr>
        <p:spPr>
          <a:xfrm>
            <a:off x="557213" y="1585913"/>
            <a:ext cx="7858125" cy="107156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3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rPr>
              <a:t>Market Truth uses AI to review news articles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3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rPr>
              <a:t>and organize information about markets.</a:t>
            </a:r>
            <a:endParaRPr sz="1100"/>
          </a:p>
        </p:txBody>
      </p:sp>
      <p:sp>
        <p:nvSpPr>
          <p:cNvPr id="83" name="Google Shape;83;p17"/>
          <p:cNvSpPr/>
          <p:nvPr/>
        </p:nvSpPr>
        <p:spPr>
          <a:xfrm>
            <a:off x="557213" y="3143250"/>
            <a:ext cx="7715250" cy="9286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>
                <a:solidFill>
                  <a:srgbClr val="A9B6C1"/>
                </a:solidFill>
                <a:latin typeface="Arial"/>
                <a:ea typeface="Arial"/>
                <a:cs typeface="Arial"/>
                <a:sym typeface="Arial"/>
              </a:rPr>
              <a:t>The goal is to help users understand a story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>
                <a:solidFill>
                  <a:srgbClr val="A9B6C1"/>
                </a:solidFill>
                <a:latin typeface="Arial"/>
                <a:ea typeface="Arial"/>
                <a:cs typeface="Arial"/>
                <a:sym typeface="Arial"/>
              </a:rPr>
              <a:t>before deciding what to research next.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2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/>
          <p:nvPr/>
        </p:nvSpPr>
        <p:spPr>
          <a:xfrm>
            <a:off x="542925" y="464344"/>
            <a:ext cx="8072438" cy="8215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B1826"/>
                </a:solidFill>
                <a:latin typeface="Arial"/>
                <a:ea typeface="Arial"/>
                <a:cs typeface="Arial"/>
                <a:sym typeface="Arial"/>
              </a:rPr>
              <a:t>Who could use it</a:t>
            </a:r>
            <a:endParaRPr sz="1100"/>
          </a:p>
        </p:txBody>
      </p:sp>
      <p:sp>
        <p:nvSpPr>
          <p:cNvPr id="90" name="Google Shape;90;p18"/>
          <p:cNvSpPr/>
          <p:nvPr/>
        </p:nvSpPr>
        <p:spPr>
          <a:xfrm>
            <a:off x="8286750" y="4679156"/>
            <a:ext cx="39290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50606D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100"/>
          </a:p>
        </p:txBody>
      </p:sp>
      <p:sp>
        <p:nvSpPr>
          <p:cNvPr id="91" name="Google Shape;91;p18"/>
          <p:cNvSpPr/>
          <p:nvPr/>
        </p:nvSpPr>
        <p:spPr>
          <a:xfrm>
            <a:off x="557213" y="1714500"/>
            <a:ext cx="2536031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25765E"/>
                </a:solidFill>
                <a:latin typeface="Arial"/>
                <a:ea typeface="Arial"/>
                <a:cs typeface="Arial"/>
                <a:sym typeface="Arial"/>
              </a:rPr>
              <a:t>New learners</a:t>
            </a:r>
            <a:endParaRPr sz="1100"/>
          </a:p>
        </p:txBody>
      </p:sp>
      <p:sp>
        <p:nvSpPr>
          <p:cNvPr id="92" name="Google Shape;92;p18"/>
          <p:cNvSpPr/>
          <p:nvPr/>
        </p:nvSpPr>
        <p:spPr>
          <a:xfrm>
            <a:off x="557213" y="2443163"/>
            <a:ext cx="2500313" cy="135731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0B1826"/>
                </a:solidFill>
                <a:latin typeface="Arial"/>
                <a:ea typeface="Arial"/>
                <a:cs typeface="Arial"/>
                <a:sym typeface="Arial"/>
              </a:rPr>
              <a:t>People who want a simpler explanation of market news.</a:t>
            </a:r>
            <a:endParaRPr sz="1100"/>
          </a:p>
        </p:txBody>
      </p:sp>
      <p:sp>
        <p:nvSpPr>
          <p:cNvPr id="93" name="Google Shape;93;p18"/>
          <p:cNvSpPr/>
          <p:nvPr/>
        </p:nvSpPr>
        <p:spPr>
          <a:xfrm>
            <a:off x="3364706" y="1714500"/>
            <a:ext cx="2536031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25765E"/>
                </a:solidFill>
                <a:latin typeface="Arial"/>
                <a:ea typeface="Arial"/>
                <a:cs typeface="Arial"/>
                <a:sym typeface="Arial"/>
              </a:rPr>
              <a:t>Active traders</a:t>
            </a:r>
            <a:endParaRPr sz="1100"/>
          </a:p>
        </p:txBody>
      </p:sp>
      <p:sp>
        <p:nvSpPr>
          <p:cNvPr id="94" name="Google Shape;94;p18"/>
          <p:cNvSpPr/>
          <p:nvPr/>
        </p:nvSpPr>
        <p:spPr>
          <a:xfrm>
            <a:off x="3364706" y="2443163"/>
            <a:ext cx="2500313" cy="135731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0B1826"/>
                </a:solidFill>
                <a:latin typeface="Arial"/>
                <a:ea typeface="Arial"/>
                <a:cs typeface="Arial"/>
                <a:sym typeface="Arial"/>
              </a:rPr>
              <a:t>People who want more context around a headline.</a:t>
            </a:r>
            <a:endParaRPr sz="1100"/>
          </a:p>
        </p:txBody>
      </p:sp>
      <p:sp>
        <p:nvSpPr>
          <p:cNvPr id="95" name="Google Shape;95;p18"/>
          <p:cNvSpPr/>
          <p:nvPr/>
        </p:nvSpPr>
        <p:spPr>
          <a:xfrm>
            <a:off x="6172200" y="1714500"/>
            <a:ext cx="2536031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25765E"/>
                </a:solidFill>
                <a:latin typeface="Arial"/>
                <a:ea typeface="Arial"/>
                <a:cs typeface="Arial"/>
                <a:sym typeface="Arial"/>
              </a:rPr>
              <a:t>Investors</a:t>
            </a:r>
            <a:endParaRPr sz="1100"/>
          </a:p>
        </p:txBody>
      </p:sp>
      <p:sp>
        <p:nvSpPr>
          <p:cNvPr id="96" name="Google Shape;96;p18"/>
          <p:cNvSpPr/>
          <p:nvPr/>
        </p:nvSpPr>
        <p:spPr>
          <a:xfrm>
            <a:off x="6172200" y="2443163"/>
            <a:ext cx="2500313" cy="135731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0B1826"/>
                </a:solidFill>
                <a:latin typeface="Arial"/>
                <a:ea typeface="Arial"/>
                <a:cs typeface="Arial"/>
                <a:sym typeface="Arial"/>
              </a:rPr>
              <a:t>People who research events that may affect their holdings.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826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/>
          <p:nvPr/>
        </p:nvSpPr>
        <p:spPr>
          <a:xfrm>
            <a:off x="542925" y="464344"/>
            <a:ext cx="8072438" cy="8215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rPr>
              <a:t>How the app works</a:t>
            </a:r>
            <a:endParaRPr sz="1100"/>
          </a:p>
        </p:txBody>
      </p:sp>
      <p:sp>
        <p:nvSpPr>
          <p:cNvPr id="103" name="Google Shape;103;p19"/>
          <p:cNvSpPr/>
          <p:nvPr/>
        </p:nvSpPr>
        <p:spPr>
          <a:xfrm>
            <a:off x="8286750" y="4679156"/>
            <a:ext cx="39290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A9B6C1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1100"/>
          </a:p>
        </p:txBody>
      </p:sp>
      <p:sp>
        <p:nvSpPr>
          <p:cNvPr id="104" name="Google Shape;104;p19"/>
          <p:cNvSpPr/>
          <p:nvPr/>
        </p:nvSpPr>
        <p:spPr>
          <a:xfrm>
            <a:off x="557213" y="1557338"/>
            <a:ext cx="2500313" cy="39290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91E5C3"/>
                </a:solidFill>
                <a:latin typeface="Arial"/>
                <a:ea typeface="Arial"/>
                <a:cs typeface="Arial"/>
                <a:sym typeface="Arial"/>
              </a:rPr>
              <a:t>01   News articles</a:t>
            </a:r>
            <a:endParaRPr sz="1100"/>
          </a:p>
        </p:txBody>
      </p:sp>
      <p:sp>
        <p:nvSpPr>
          <p:cNvPr id="105" name="Google Shape;105;p19"/>
          <p:cNvSpPr/>
          <p:nvPr/>
        </p:nvSpPr>
        <p:spPr>
          <a:xfrm>
            <a:off x="3321844" y="1557338"/>
            <a:ext cx="50006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rPr>
              <a:t>The app uses an article as the starting point.</a:t>
            </a:r>
            <a:endParaRPr sz="1100"/>
          </a:p>
        </p:txBody>
      </p:sp>
      <p:sp>
        <p:nvSpPr>
          <p:cNvPr id="106" name="Google Shape;106;p19"/>
          <p:cNvSpPr/>
          <p:nvPr/>
        </p:nvSpPr>
        <p:spPr>
          <a:xfrm>
            <a:off x="557213" y="2471738"/>
            <a:ext cx="2500313" cy="39290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91E5C3"/>
                </a:solidFill>
                <a:latin typeface="Arial"/>
                <a:ea typeface="Arial"/>
                <a:cs typeface="Arial"/>
                <a:sym typeface="Arial"/>
              </a:rPr>
              <a:t>02   AI review</a:t>
            </a:r>
            <a:endParaRPr sz="1100"/>
          </a:p>
        </p:txBody>
      </p:sp>
      <p:sp>
        <p:nvSpPr>
          <p:cNvPr id="107" name="Google Shape;107;p19"/>
          <p:cNvSpPr/>
          <p:nvPr/>
        </p:nvSpPr>
        <p:spPr>
          <a:xfrm>
            <a:off x="3321844" y="2471738"/>
            <a:ext cx="50006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rPr>
              <a:t>It gives scores for credibility, impact and confidence.</a:t>
            </a:r>
            <a:endParaRPr sz="1100"/>
          </a:p>
        </p:txBody>
      </p:sp>
      <p:sp>
        <p:nvSpPr>
          <p:cNvPr id="108" name="Google Shape;108;p19"/>
          <p:cNvSpPr/>
          <p:nvPr/>
        </p:nvSpPr>
        <p:spPr>
          <a:xfrm>
            <a:off x="557213" y="3386138"/>
            <a:ext cx="2500313" cy="39290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91E5C3"/>
                </a:solidFill>
                <a:latin typeface="Arial"/>
                <a:ea typeface="Arial"/>
                <a:cs typeface="Arial"/>
                <a:sym typeface="Arial"/>
              </a:rPr>
              <a:t>03   Market analysis</a:t>
            </a:r>
            <a:endParaRPr sz="1100"/>
          </a:p>
        </p:txBody>
      </p:sp>
      <p:sp>
        <p:nvSpPr>
          <p:cNvPr id="109" name="Google Shape;109;p19"/>
          <p:cNvSpPr/>
          <p:nvPr/>
        </p:nvSpPr>
        <p:spPr>
          <a:xfrm>
            <a:off x="3321844" y="3386138"/>
            <a:ext cx="50006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rPr>
              <a:t>It organizes information by sector and analysis type.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2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/>
          <p:nvPr/>
        </p:nvSpPr>
        <p:spPr>
          <a:xfrm>
            <a:off x="542925" y="464344"/>
            <a:ext cx="8072438" cy="8215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B1826"/>
                </a:solidFill>
                <a:latin typeface="Arial"/>
                <a:ea typeface="Arial"/>
                <a:cs typeface="Arial"/>
                <a:sym typeface="Arial"/>
              </a:rPr>
              <a:t>Three scores answer different questions</a:t>
            </a:r>
            <a:endParaRPr sz="1100"/>
          </a:p>
        </p:txBody>
      </p:sp>
      <p:sp>
        <p:nvSpPr>
          <p:cNvPr id="116" name="Google Shape;116;p20"/>
          <p:cNvSpPr/>
          <p:nvPr/>
        </p:nvSpPr>
        <p:spPr>
          <a:xfrm>
            <a:off x="8286750" y="4679156"/>
            <a:ext cx="39290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50606D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sz="1100"/>
          </a:p>
        </p:txBody>
      </p:sp>
      <p:sp>
        <p:nvSpPr>
          <p:cNvPr id="117" name="Google Shape;117;p20"/>
          <p:cNvSpPr/>
          <p:nvPr/>
        </p:nvSpPr>
        <p:spPr>
          <a:xfrm>
            <a:off x="557213" y="1714500"/>
            <a:ext cx="2536031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25765E"/>
                </a:solidFill>
                <a:latin typeface="Arial"/>
                <a:ea typeface="Arial"/>
                <a:cs typeface="Arial"/>
                <a:sym typeface="Arial"/>
              </a:rPr>
              <a:t>Credibility</a:t>
            </a:r>
            <a:endParaRPr sz="1100"/>
          </a:p>
        </p:txBody>
      </p:sp>
      <p:sp>
        <p:nvSpPr>
          <p:cNvPr id="118" name="Google Shape;118;p20"/>
          <p:cNvSpPr/>
          <p:nvPr/>
        </p:nvSpPr>
        <p:spPr>
          <a:xfrm>
            <a:off x="557213" y="2443163"/>
            <a:ext cx="2500313" cy="135731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0B1826"/>
                </a:solidFill>
                <a:latin typeface="Arial"/>
                <a:ea typeface="Arial"/>
                <a:cs typeface="Arial"/>
                <a:sym typeface="Arial"/>
              </a:rPr>
              <a:t>How believable is the information?</a:t>
            </a:r>
            <a:endParaRPr sz="1100"/>
          </a:p>
        </p:txBody>
      </p:sp>
      <p:sp>
        <p:nvSpPr>
          <p:cNvPr id="119" name="Google Shape;119;p20"/>
          <p:cNvSpPr/>
          <p:nvPr/>
        </p:nvSpPr>
        <p:spPr>
          <a:xfrm>
            <a:off x="3364706" y="1714500"/>
            <a:ext cx="2536031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25765E"/>
                </a:solidFill>
                <a:latin typeface="Arial"/>
                <a:ea typeface="Arial"/>
                <a:cs typeface="Arial"/>
                <a:sym typeface="Arial"/>
              </a:rPr>
              <a:t>Impact</a:t>
            </a:r>
            <a:endParaRPr sz="1100"/>
          </a:p>
        </p:txBody>
      </p:sp>
      <p:sp>
        <p:nvSpPr>
          <p:cNvPr id="120" name="Google Shape;120;p20"/>
          <p:cNvSpPr/>
          <p:nvPr/>
        </p:nvSpPr>
        <p:spPr>
          <a:xfrm>
            <a:off x="3364706" y="2443163"/>
            <a:ext cx="2500313" cy="135731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0B1826"/>
                </a:solidFill>
                <a:latin typeface="Arial"/>
                <a:ea typeface="Arial"/>
                <a:cs typeface="Arial"/>
                <a:sym typeface="Arial"/>
              </a:rPr>
              <a:t>How much could this news matter to the market?</a:t>
            </a:r>
            <a:endParaRPr sz="1100"/>
          </a:p>
        </p:txBody>
      </p:sp>
      <p:sp>
        <p:nvSpPr>
          <p:cNvPr id="121" name="Google Shape;121;p20"/>
          <p:cNvSpPr/>
          <p:nvPr/>
        </p:nvSpPr>
        <p:spPr>
          <a:xfrm>
            <a:off x="6172200" y="1714500"/>
            <a:ext cx="2536031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25765E"/>
                </a:solidFill>
                <a:latin typeface="Arial"/>
                <a:ea typeface="Arial"/>
                <a:cs typeface="Arial"/>
                <a:sym typeface="Arial"/>
              </a:rPr>
              <a:t>Confidence</a:t>
            </a:r>
            <a:endParaRPr sz="1100"/>
          </a:p>
        </p:txBody>
      </p:sp>
      <p:sp>
        <p:nvSpPr>
          <p:cNvPr id="122" name="Google Shape;122;p20"/>
          <p:cNvSpPr/>
          <p:nvPr/>
        </p:nvSpPr>
        <p:spPr>
          <a:xfrm>
            <a:off x="6172200" y="2443163"/>
            <a:ext cx="2500313" cy="135731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0B1826"/>
                </a:solidFill>
                <a:latin typeface="Arial"/>
                <a:ea typeface="Arial"/>
                <a:cs typeface="Arial"/>
                <a:sym typeface="Arial"/>
              </a:rPr>
              <a:t>How sure is the AI about its assessment?</a:t>
            </a:r>
            <a:endParaRPr sz="1100"/>
          </a:p>
        </p:txBody>
      </p:sp>
      <p:sp>
        <p:nvSpPr>
          <p:cNvPr id="123" name="Google Shape;123;p20"/>
          <p:cNvSpPr/>
          <p:nvPr/>
        </p:nvSpPr>
        <p:spPr>
          <a:xfrm>
            <a:off x="557213" y="4179094"/>
            <a:ext cx="7858125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50606D"/>
                </a:solidFill>
                <a:latin typeface="Arial"/>
                <a:ea typeface="Arial"/>
                <a:cs typeface="Arial"/>
                <a:sym typeface="Arial"/>
              </a:rPr>
              <a:t>Each score adds context. Users still need to review the evidence.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826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/>
          <p:nvPr/>
        </p:nvSpPr>
        <p:spPr>
          <a:xfrm>
            <a:off x="542925" y="464344"/>
            <a:ext cx="8072438" cy="8215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rPr>
              <a:t>Credibility looks at believability</a:t>
            </a:r>
            <a:endParaRPr sz="1100"/>
          </a:p>
        </p:txBody>
      </p:sp>
      <p:sp>
        <p:nvSpPr>
          <p:cNvPr id="130" name="Google Shape;130;p21"/>
          <p:cNvSpPr/>
          <p:nvPr/>
        </p:nvSpPr>
        <p:spPr>
          <a:xfrm>
            <a:off x="8286750" y="4679156"/>
            <a:ext cx="39290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A9B6C1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sz="1100"/>
          </a:p>
        </p:txBody>
      </p:sp>
      <p:sp>
        <p:nvSpPr>
          <p:cNvPr id="131" name="Google Shape;131;p21"/>
          <p:cNvSpPr/>
          <p:nvPr/>
        </p:nvSpPr>
        <p:spPr>
          <a:xfrm>
            <a:off x="557213" y="1571625"/>
            <a:ext cx="7929563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91E5C3"/>
                </a:solidFill>
                <a:latin typeface="Arial"/>
                <a:ea typeface="Arial"/>
                <a:cs typeface="Arial"/>
                <a:sym typeface="Arial"/>
              </a:rPr>
              <a:t>“Can I trust this information?”</a:t>
            </a:r>
            <a:endParaRPr sz="1100"/>
          </a:p>
        </p:txBody>
      </p:sp>
      <p:sp>
        <p:nvSpPr>
          <p:cNvPr id="132" name="Google Shape;132;p21"/>
          <p:cNvSpPr/>
          <p:nvPr/>
        </p:nvSpPr>
        <p:spPr>
          <a:xfrm>
            <a:off x="557213" y="2571750"/>
            <a:ext cx="7143750" cy="8215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0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rPr>
              <a:t>This score helps users think about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0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rPr>
              <a:t>how reliable an article appears.</a:t>
            </a:r>
            <a:endParaRPr sz="1100"/>
          </a:p>
        </p:txBody>
      </p:sp>
      <p:sp>
        <p:nvSpPr>
          <p:cNvPr id="133" name="Google Shape;133;p21"/>
          <p:cNvSpPr/>
          <p:nvPr/>
        </p:nvSpPr>
        <p:spPr>
          <a:xfrm>
            <a:off x="557213" y="3971925"/>
            <a:ext cx="8001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A9B6C1"/>
                </a:solidFill>
                <a:latin typeface="Arial"/>
                <a:ea typeface="Arial"/>
                <a:cs typeface="Arial"/>
                <a:sym typeface="Arial"/>
              </a:rPr>
              <a:t>A credibility score is an assessment. It cannot prove a claim is true.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2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/>
          <p:nvPr/>
        </p:nvSpPr>
        <p:spPr>
          <a:xfrm>
            <a:off x="542925" y="464344"/>
            <a:ext cx="8072438" cy="8215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B1826"/>
                </a:solidFill>
                <a:latin typeface="Arial"/>
                <a:ea typeface="Arial"/>
                <a:cs typeface="Arial"/>
                <a:sym typeface="Arial"/>
              </a:rPr>
              <a:t>Impact looks at possible market importance</a:t>
            </a:r>
            <a:endParaRPr sz="1100"/>
          </a:p>
        </p:txBody>
      </p:sp>
      <p:sp>
        <p:nvSpPr>
          <p:cNvPr id="140" name="Google Shape;140;p22"/>
          <p:cNvSpPr/>
          <p:nvPr/>
        </p:nvSpPr>
        <p:spPr>
          <a:xfrm>
            <a:off x="8286750" y="4679156"/>
            <a:ext cx="39290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50606D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sz="1100"/>
          </a:p>
        </p:txBody>
      </p:sp>
      <p:sp>
        <p:nvSpPr>
          <p:cNvPr id="141" name="Google Shape;141;p22"/>
          <p:cNvSpPr/>
          <p:nvPr/>
        </p:nvSpPr>
        <p:spPr>
          <a:xfrm>
            <a:off x="557213" y="1571625"/>
            <a:ext cx="7929563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25765E"/>
                </a:solidFill>
                <a:latin typeface="Arial"/>
                <a:ea typeface="Arial"/>
                <a:cs typeface="Arial"/>
                <a:sym typeface="Arial"/>
              </a:rPr>
              <a:t>“Could this news matter?”</a:t>
            </a:r>
            <a:endParaRPr sz="1100"/>
          </a:p>
        </p:txBody>
      </p:sp>
      <p:sp>
        <p:nvSpPr>
          <p:cNvPr id="142" name="Google Shape;142;p22"/>
          <p:cNvSpPr/>
          <p:nvPr/>
        </p:nvSpPr>
        <p:spPr>
          <a:xfrm>
            <a:off x="557213" y="2571750"/>
            <a:ext cx="7858125" cy="8215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000">
                <a:solidFill>
                  <a:srgbClr val="0B1826"/>
                </a:solidFill>
                <a:latin typeface="Arial"/>
                <a:ea typeface="Arial"/>
                <a:cs typeface="Arial"/>
                <a:sym typeface="Arial"/>
              </a:rPr>
              <a:t>This score describes the possible importance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000">
                <a:solidFill>
                  <a:srgbClr val="0B1826"/>
                </a:solidFill>
                <a:latin typeface="Arial"/>
                <a:ea typeface="Arial"/>
                <a:cs typeface="Arial"/>
                <a:sym typeface="Arial"/>
              </a:rPr>
              <a:t>of a story for a market or sector.</a:t>
            </a:r>
            <a:endParaRPr sz="1100"/>
          </a:p>
        </p:txBody>
      </p:sp>
      <p:sp>
        <p:nvSpPr>
          <p:cNvPr id="143" name="Google Shape;143;p22"/>
          <p:cNvSpPr/>
          <p:nvPr/>
        </p:nvSpPr>
        <p:spPr>
          <a:xfrm>
            <a:off x="557213" y="3971925"/>
            <a:ext cx="8001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50606D"/>
                </a:solidFill>
                <a:latin typeface="Arial"/>
                <a:ea typeface="Arial"/>
                <a:cs typeface="Arial"/>
                <a:sym typeface="Arial"/>
              </a:rPr>
              <a:t>Important news can still lead to an uncertain price response.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826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/>
          <p:nvPr/>
        </p:nvSpPr>
        <p:spPr>
          <a:xfrm>
            <a:off x="542925" y="464344"/>
            <a:ext cx="8072438" cy="8215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rPr>
              <a:t>Confidence shows how certain the AI is</a:t>
            </a:r>
            <a:endParaRPr sz="1100"/>
          </a:p>
        </p:txBody>
      </p:sp>
      <p:sp>
        <p:nvSpPr>
          <p:cNvPr id="150" name="Google Shape;150;p23"/>
          <p:cNvSpPr/>
          <p:nvPr/>
        </p:nvSpPr>
        <p:spPr>
          <a:xfrm>
            <a:off x="8286750" y="4679156"/>
            <a:ext cx="39290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A9B6C1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sz="1100"/>
          </a:p>
        </p:txBody>
      </p:sp>
      <p:sp>
        <p:nvSpPr>
          <p:cNvPr id="151" name="Google Shape;151;p23"/>
          <p:cNvSpPr/>
          <p:nvPr/>
        </p:nvSpPr>
        <p:spPr>
          <a:xfrm>
            <a:off x="557213" y="1571625"/>
            <a:ext cx="8001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91E5C3"/>
                </a:solidFill>
                <a:latin typeface="Arial"/>
                <a:ea typeface="Arial"/>
                <a:cs typeface="Arial"/>
                <a:sym typeface="Arial"/>
              </a:rPr>
              <a:t>“How sure is this assessment?”</a:t>
            </a:r>
            <a:endParaRPr sz="1100"/>
          </a:p>
        </p:txBody>
      </p:sp>
      <p:sp>
        <p:nvSpPr>
          <p:cNvPr id="152" name="Google Shape;152;p23"/>
          <p:cNvSpPr/>
          <p:nvPr/>
        </p:nvSpPr>
        <p:spPr>
          <a:xfrm>
            <a:off x="557213" y="2571750"/>
            <a:ext cx="7858125" cy="8215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0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rPr>
              <a:t>This score gives users another way to judge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0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rPr>
              <a:t>how much weight to place on the analysis.</a:t>
            </a:r>
            <a:endParaRPr sz="1100"/>
          </a:p>
        </p:txBody>
      </p:sp>
      <p:sp>
        <p:nvSpPr>
          <p:cNvPr id="153" name="Google Shape;153;p23"/>
          <p:cNvSpPr/>
          <p:nvPr/>
        </p:nvSpPr>
        <p:spPr>
          <a:xfrm>
            <a:off x="557213" y="3971925"/>
            <a:ext cx="8001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A9B6C1"/>
                </a:solidFill>
                <a:latin typeface="Arial"/>
                <a:ea typeface="Arial"/>
                <a:cs typeface="Arial"/>
                <a:sym typeface="Arial"/>
              </a:rPr>
              <a:t>Higher confidence does not guarantee that the AI is correct.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2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/>
          <p:nvPr/>
        </p:nvSpPr>
        <p:spPr>
          <a:xfrm>
            <a:off x="542925" y="464344"/>
            <a:ext cx="8072438" cy="8215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B1826"/>
                </a:solidFill>
                <a:latin typeface="Arial"/>
                <a:ea typeface="Arial"/>
                <a:cs typeface="Arial"/>
                <a:sym typeface="Arial"/>
              </a:rPr>
              <a:t>The analysis has three main categories</a:t>
            </a:r>
            <a:endParaRPr sz="1100"/>
          </a:p>
        </p:txBody>
      </p:sp>
      <p:sp>
        <p:nvSpPr>
          <p:cNvPr id="160" name="Google Shape;160;p24"/>
          <p:cNvSpPr/>
          <p:nvPr/>
        </p:nvSpPr>
        <p:spPr>
          <a:xfrm>
            <a:off x="8286750" y="4679156"/>
            <a:ext cx="39290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50606D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100"/>
          </a:p>
        </p:txBody>
      </p:sp>
      <p:sp>
        <p:nvSpPr>
          <p:cNvPr id="161" name="Google Shape;161;p24"/>
          <p:cNvSpPr/>
          <p:nvPr/>
        </p:nvSpPr>
        <p:spPr>
          <a:xfrm>
            <a:off x="557213" y="1714500"/>
            <a:ext cx="2536031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25765E"/>
                </a:solidFill>
                <a:latin typeface="Arial"/>
                <a:ea typeface="Arial"/>
                <a:cs typeface="Arial"/>
                <a:sym typeface="Arial"/>
              </a:rPr>
              <a:t>News-related</a:t>
            </a:r>
            <a:endParaRPr sz="1100"/>
          </a:p>
        </p:txBody>
      </p:sp>
      <p:sp>
        <p:nvSpPr>
          <p:cNvPr id="162" name="Google Shape;162;p24"/>
          <p:cNvSpPr/>
          <p:nvPr/>
        </p:nvSpPr>
        <p:spPr>
          <a:xfrm>
            <a:off x="557213" y="2443163"/>
            <a:ext cx="2500313" cy="135731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0B1826"/>
                </a:solidFill>
                <a:latin typeface="Arial"/>
                <a:ea typeface="Arial"/>
                <a:cs typeface="Arial"/>
                <a:sym typeface="Arial"/>
              </a:rPr>
              <a:t>Context around the story and its possible market effects.</a:t>
            </a:r>
            <a:endParaRPr sz="1100"/>
          </a:p>
        </p:txBody>
      </p:sp>
      <p:sp>
        <p:nvSpPr>
          <p:cNvPr id="163" name="Google Shape;163;p24"/>
          <p:cNvSpPr/>
          <p:nvPr/>
        </p:nvSpPr>
        <p:spPr>
          <a:xfrm>
            <a:off x="3364706" y="1714500"/>
            <a:ext cx="2536031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25765E"/>
                </a:solidFill>
                <a:latin typeface="Arial"/>
                <a:ea typeface="Arial"/>
                <a:cs typeface="Arial"/>
                <a:sym typeface="Arial"/>
              </a:rPr>
              <a:t>Math / Technicals</a:t>
            </a:r>
            <a:endParaRPr sz="1100"/>
          </a:p>
        </p:txBody>
      </p:sp>
      <p:sp>
        <p:nvSpPr>
          <p:cNvPr id="164" name="Google Shape;164;p24"/>
          <p:cNvSpPr/>
          <p:nvPr/>
        </p:nvSpPr>
        <p:spPr>
          <a:xfrm>
            <a:off x="3364706" y="2443163"/>
            <a:ext cx="2500313" cy="135731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0B1826"/>
                </a:solidFill>
                <a:latin typeface="Arial"/>
                <a:ea typeface="Arial"/>
                <a:cs typeface="Arial"/>
                <a:sym typeface="Arial"/>
              </a:rPr>
              <a:t>A view focused on numbers and market patterns.</a:t>
            </a:r>
            <a:endParaRPr sz="1100"/>
          </a:p>
        </p:txBody>
      </p:sp>
      <p:sp>
        <p:nvSpPr>
          <p:cNvPr id="165" name="Google Shape;165;p24"/>
          <p:cNvSpPr/>
          <p:nvPr/>
        </p:nvSpPr>
        <p:spPr>
          <a:xfrm>
            <a:off x="6172200" y="1714500"/>
            <a:ext cx="2536031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25765E"/>
                </a:solidFill>
                <a:latin typeface="Arial"/>
                <a:ea typeface="Arial"/>
                <a:cs typeface="Arial"/>
                <a:sym typeface="Arial"/>
              </a:rPr>
              <a:t>Opportunity-driven</a:t>
            </a:r>
            <a:endParaRPr sz="1100"/>
          </a:p>
        </p:txBody>
      </p:sp>
      <p:sp>
        <p:nvSpPr>
          <p:cNvPr id="166" name="Google Shape;166;p24"/>
          <p:cNvSpPr/>
          <p:nvPr/>
        </p:nvSpPr>
        <p:spPr>
          <a:xfrm>
            <a:off x="6172200" y="2443163"/>
            <a:ext cx="2500313" cy="135731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0B1826"/>
                </a:solidFill>
                <a:latin typeface="Arial"/>
                <a:ea typeface="Arial"/>
                <a:cs typeface="Arial"/>
                <a:sym typeface="Arial"/>
              </a:rPr>
              <a:t>Possible ideas that deserve further research.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826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/>
          <p:nvPr/>
        </p:nvSpPr>
        <p:spPr>
          <a:xfrm>
            <a:off x="542925" y="464344"/>
            <a:ext cx="8072438" cy="8215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rPr>
              <a:t>Sector views help organize the information</a:t>
            </a:r>
            <a:endParaRPr sz="1100"/>
          </a:p>
        </p:txBody>
      </p:sp>
      <p:sp>
        <p:nvSpPr>
          <p:cNvPr id="173" name="Google Shape;173;p25"/>
          <p:cNvSpPr/>
          <p:nvPr/>
        </p:nvSpPr>
        <p:spPr>
          <a:xfrm>
            <a:off x="8286750" y="4679156"/>
            <a:ext cx="39290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A9B6C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1100"/>
          </a:p>
        </p:txBody>
      </p:sp>
      <p:sp>
        <p:nvSpPr>
          <p:cNvPr id="174" name="Google Shape;174;p25"/>
          <p:cNvSpPr/>
          <p:nvPr/>
        </p:nvSpPr>
        <p:spPr>
          <a:xfrm>
            <a:off x="557213" y="1521619"/>
            <a:ext cx="7858125" cy="9286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3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rPr>
              <a:t>Users can look at the parts of the market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3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rPr>
              <a:t>that interest them.</a:t>
            </a:r>
            <a:endParaRPr sz="1100"/>
          </a:p>
        </p:txBody>
      </p:sp>
      <p:sp>
        <p:nvSpPr>
          <p:cNvPr id="175" name="Google Shape;175;p25"/>
          <p:cNvSpPr/>
          <p:nvPr/>
        </p:nvSpPr>
        <p:spPr>
          <a:xfrm>
            <a:off x="557213" y="2907506"/>
            <a:ext cx="7786688" cy="8929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900">
                <a:solidFill>
                  <a:srgbClr val="A9B6C1"/>
                </a:solidFill>
                <a:latin typeface="Arial"/>
                <a:ea typeface="Arial"/>
                <a:cs typeface="Arial"/>
                <a:sym typeface="Arial"/>
              </a:rPr>
              <a:t>Within a sector, the app presents its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900">
                <a:solidFill>
                  <a:srgbClr val="A9B6C1"/>
                </a:solidFill>
                <a:latin typeface="Arial"/>
                <a:ea typeface="Arial"/>
                <a:cs typeface="Arial"/>
                <a:sym typeface="Arial"/>
              </a:rPr>
              <a:t>news, technical and opportunity analysis.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826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6"/>
          <p:cNvSpPr/>
          <p:nvPr/>
        </p:nvSpPr>
        <p:spPr>
          <a:xfrm>
            <a:off x="542925" y="464344"/>
            <a:ext cx="8072438" cy="8215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rPr>
              <a:t>How previous searches could be saved</a:t>
            </a:r>
            <a:endParaRPr sz="1100"/>
          </a:p>
        </p:txBody>
      </p:sp>
      <p:sp>
        <p:nvSpPr>
          <p:cNvPr id="182" name="Google Shape;182;p26"/>
          <p:cNvSpPr/>
          <p:nvPr/>
        </p:nvSpPr>
        <p:spPr>
          <a:xfrm>
            <a:off x="8286750" y="4679156"/>
            <a:ext cx="39290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A9B6C1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sz="1100"/>
          </a:p>
        </p:txBody>
      </p:sp>
      <p:sp>
        <p:nvSpPr>
          <p:cNvPr id="183" name="Google Shape;183;p26"/>
          <p:cNvSpPr/>
          <p:nvPr/>
        </p:nvSpPr>
        <p:spPr>
          <a:xfrm>
            <a:off x="557213" y="1335881"/>
            <a:ext cx="7929563" cy="5357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91E5C3"/>
                </a:solidFill>
                <a:latin typeface="Arial"/>
                <a:ea typeface="Arial"/>
                <a:cs typeface="Arial"/>
                <a:sym typeface="Arial"/>
              </a:rPr>
              <a:t>A database can keep each user’s search history.</a:t>
            </a:r>
            <a:endParaRPr sz="1100"/>
          </a:p>
        </p:txBody>
      </p:sp>
      <p:sp>
        <p:nvSpPr>
          <p:cNvPr id="184" name="Google Shape;184;p26"/>
          <p:cNvSpPr/>
          <p:nvPr/>
        </p:nvSpPr>
        <p:spPr>
          <a:xfrm>
            <a:off x="557212" y="2178844"/>
            <a:ext cx="2571750" cy="55721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91E5C3"/>
                </a:solidFill>
                <a:latin typeface="Arial"/>
                <a:ea typeface="Arial"/>
                <a:cs typeface="Arial"/>
                <a:sym typeface="Arial"/>
              </a:rPr>
              <a:t>Save the details</a:t>
            </a:r>
            <a:endParaRPr sz="1100"/>
          </a:p>
        </p:txBody>
      </p:sp>
      <p:sp>
        <p:nvSpPr>
          <p:cNvPr id="185" name="Google Shape;185;p26"/>
          <p:cNvSpPr/>
          <p:nvPr/>
        </p:nvSpPr>
        <p:spPr>
          <a:xfrm>
            <a:off x="3321844" y="2178844"/>
            <a:ext cx="5000625" cy="607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rPr>
              <a:t>Store the search, article link, date and AI results.</a:t>
            </a:r>
            <a:endParaRPr sz="1100"/>
          </a:p>
        </p:txBody>
      </p:sp>
      <p:sp>
        <p:nvSpPr>
          <p:cNvPr id="186" name="Google Shape;186;p26"/>
          <p:cNvSpPr/>
          <p:nvPr/>
        </p:nvSpPr>
        <p:spPr>
          <a:xfrm>
            <a:off x="557212" y="2928938"/>
            <a:ext cx="2571750" cy="55721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91E5C3"/>
                </a:solidFill>
                <a:latin typeface="Arial"/>
                <a:ea typeface="Arial"/>
                <a:cs typeface="Arial"/>
                <a:sym typeface="Arial"/>
              </a:rPr>
              <a:t>Keep them in a database</a:t>
            </a:r>
            <a:endParaRPr sz="1100"/>
          </a:p>
        </p:txBody>
      </p:sp>
      <p:sp>
        <p:nvSpPr>
          <p:cNvPr id="187" name="Google Shape;187;p26"/>
          <p:cNvSpPr/>
          <p:nvPr/>
        </p:nvSpPr>
        <p:spPr>
          <a:xfrm>
            <a:off x="3321844" y="2928938"/>
            <a:ext cx="5000625" cy="607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4F6F2"/>
                </a:solidFill>
              </a:rPr>
              <a:t>SupaBase</a:t>
            </a:r>
            <a:r>
              <a:rPr b="0" lang="en" sz="16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rPr>
              <a:t> can store the records on a server.</a:t>
            </a:r>
            <a:endParaRPr sz="1100"/>
          </a:p>
        </p:txBody>
      </p:sp>
      <p:sp>
        <p:nvSpPr>
          <p:cNvPr id="188" name="Google Shape;188;p26"/>
          <p:cNvSpPr/>
          <p:nvPr/>
        </p:nvSpPr>
        <p:spPr>
          <a:xfrm>
            <a:off x="557212" y="3679031"/>
            <a:ext cx="2571750" cy="55721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91E5C3"/>
                </a:solidFill>
                <a:latin typeface="Arial"/>
                <a:ea typeface="Arial"/>
                <a:cs typeface="Arial"/>
                <a:sym typeface="Arial"/>
              </a:rPr>
              <a:t>Show a History page</a:t>
            </a:r>
            <a:endParaRPr sz="1100"/>
          </a:p>
        </p:txBody>
      </p:sp>
      <p:sp>
        <p:nvSpPr>
          <p:cNvPr id="189" name="Google Shape;189;p26"/>
          <p:cNvSpPr/>
          <p:nvPr/>
        </p:nvSpPr>
        <p:spPr>
          <a:xfrm>
            <a:off x="3321844" y="3679031"/>
            <a:ext cx="5000625" cy="607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rPr>
              <a:t>After sign-in, users can reopen or delete their own results.</a:t>
            </a:r>
            <a:endParaRPr sz="1100"/>
          </a:p>
        </p:txBody>
      </p:sp>
      <p:sp>
        <p:nvSpPr>
          <p:cNvPr id="190" name="Google Shape;190;p26"/>
          <p:cNvSpPr/>
          <p:nvPr/>
        </p:nvSpPr>
        <p:spPr>
          <a:xfrm>
            <a:off x="557213" y="4557713"/>
            <a:ext cx="7500938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A9B6C1"/>
                </a:solidFill>
                <a:latin typeface="Arial"/>
                <a:ea typeface="Arial"/>
                <a:cs typeface="Arial"/>
                <a:sym typeface="Arial"/>
              </a:rPr>
              <a:t>Saved results show the earlier analysis. A new search can update it.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2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7"/>
          <p:cNvSpPr/>
          <p:nvPr/>
        </p:nvSpPr>
        <p:spPr>
          <a:xfrm>
            <a:off x="542925" y="464344"/>
            <a:ext cx="8072438" cy="8215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B1826"/>
                </a:solidFill>
                <a:latin typeface="Arial"/>
                <a:ea typeface="Arial"/>
                <a:cs typeface="Arial"/>
                <a:sym typeface="Arial"/>
              </a:rPr>
              <a:t>One headline can raise several questions</a:t>
            </a:r>
            <a:endParaRPr sz="1100"/>
          </a:p>
        </p:txBody>
      </p:sp>
      <p:sp>
        <p:nvSpPr>
          <p:cNvPr id="197" name="Google Shape;197;p27"/>
          <p:cNvSpPr/>
          <p:nvPr/>
        </p:nvSpPr>
        <p:spPr>
          <a:xfrm>
            <a:off x="8286750" y="4679156"/>
            <a:ext cx="39290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50606D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100"/>
          </a:p>
        </p:txBody>
      </p:sp>
      <p:sp>
        <p:nvSpPr>
          <p:cNvPr id="198" name="Google Shape;198;p27"/>
          <p:cNvSpPr/>
          <p:nvPr/>
        </p:nvSpPr>
        <p:spPr>
          <a:xfrm>
            <a:off x="557213" y="1371600"/>
            <a:ext cx="8001000" cy="55721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25765E"/>
                </a:solidFill>
                <a:latin typeface="Arial"/>
                <a:ea typeface="Arial"/>
                <a:cs typeface="Arial"/>
                <a:sym typeface="Arial"/>
              </a:rPr>
              <a:t>Example: A company announces a new product</a:t>
            </a:r>
            <a:endParaRPr sz="1100"/>
          </a:p>
        </p:txBody>
      </p:sp>
      <p:sp>
        <p:nvSpPr>
          <p:cNvPr id="199" name="Google Shape;199;p27"/>
          <p:cNvSpPr/>
          <p:nvPr/>
        </p:nvSpPr>
        <p:spPr>
          <a:xfrm>
            <a:off x="557213" y="2214563"/>
            <a:ext cx="2500313" cy="39290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25765E"/>
                </a:solidFill>
                <a:latin typeface="Arial"/>
                <a:ea typeface="Arial"/>
                <a:cs typeface="Arial"/>
                <a:sym typeface="Arial"/>
              </a:rPr>
              <a:t>Credibility</a:t>
            </a:r>
            <a:endParaRPr sz="1100"/>
          </a:p>
        </p:txBody>
      </p:sp>
      <p:sp>
        <p:nvSpPr>
          <p:cNvPr id="200" name="Google Shape;200;p27"/>
          <p:cNvSpPr/>
          <p:nvPr/>
        </p:nvSpPr>
        <p:spPr>
          <a:xfrm>
            <a:off x="3321844" y="2214563"/>
            <a:ext cx="50006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0B1826"/>
                </a:solidFill>
                <a:latin typeface="Arial"/>
                <a:ea typeface="Arial"/>
                <a:cs typeface="Arial"/>
                <a:sym typeface="Arial"/>
              </a:rPr>
              <a:t>Is the announcement well supported?</a:t>
            </a:r>
            <a:endParaRPr sz="1100"/>
          </a:p>
        </p:txBody>
      </p:sp>
      <p:sp>
        <p:nvSpPr>
          <p:cNvPr id="201" name="Google Shape;201;p27"/>
          <p:cNvSpPr/>
          <p:nvPr/>
        </p:nvSpPr>
        <p:spPr>
          <a:xfrm>
            <a:off x="557213" y="2928938"/>
            <a:ext cx="2500313" cy="39290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25765E"/>
                </a:solidFill>
                <a:latin typeface="Arial"/>
                <a:ea typeface="Arial"/>
                <a:cs typeface="Arial"/>
                <a:sym typeface="Arial"/>
              </a:rPr>
              <a:t>Impact</a:t>
            </a:r>
            <a:endParaRPr sz="1100"/>
          </a:p>
        </p:txBody>
      </p:sp>
      <p:sp>
        <p:nvSpPr>
          <p:cNvPr id="202" name="Google Shape;202;p27"/>
          <p:cNvSpPr/>
          <p:nvPr/>
        </p:nvSpPr>
        <p:spPr>
          <a:xfrm>
            <a:off x="3321844" y="2928938"/>
            <a:ext cx="50006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0B1826"/>
                </a:solidFill>
                <a:latin typeface="Arial"/>
                <a:ea typeface="Arial"/>
                <a:cs typeface="Arial"/>
                <a:sym typeface="Arial"/>
              </a:rPr>
              <a:t>Could it meaningfully affect the company?</a:t>
            </a:r>
            <a:endParaRPr sz="1100"/>
          </a:p>
        </p:txBody>
      </p:sp>
      <p:sp>
        <p:nvSpPr>
          <p:cNvPr id="203" name="Google Shape;203;p27"/>
          <p:cNvSpPr/>
          <p:nvPr/>
        </p:nvSpPr>
        <p:spPr>
          <a:xfrm>
            <a:off x="557213" y="3643313"/>
            <a:ext cx="2500313" cy="39290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25765E"/>
                </a:solidFill>
                <a:latin typeface="Arial"/>
                <a:ea typeface="Arial"/>
                <a:cs typeface="Arial"/>
                <a:sym typeface="Arial"/>
              </a:rPr>
              <a:t>Confidence</a:t>
            </a:r>
            <a:endParaRPr sz="1100"/>
          </a:p>
        </p:txBody>
      </p:sp>
      <p:sp>
        <p:nvSpPr>
          <p:cNvPr id="204" name="Google Shape;204;p27"/>
          <p:cNvSpPr/>
          <p:nvPr/>
        </p:nvSpPr>
        <p:spPr>
          <a:xfrm>
            <a:off x="3321844" y="3643313"/>
            <a:ext cx="50006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0B1826"/>
                </a:solidFill>
                <a:latin typeface="Arial"/>
                <a:ea typeface="Arial"/>
                <a:cs typeface="Arial"/>
                <a:sym typeface="Arial"/>
              </a:rPr>
              <a:t>How much is still unknown?</a:t>
            </a:r>
            <a:endParaRPr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826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8"/>
          <p:cNvSpPr/>
          <p:nvPr/>
        </p:nvSpPr>
        <p:spPr>
          <a:xfrm>
            <a:off x="542925" y="464344"/>
            <a:ext cx="8072438" cy="8215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rPr>
              <a:t>The value is clearer research</a:t>
            </a:r>
            <a:endParaRPr sz="1100"/>
          </a:p>
        </p:txBody>
      </p:sp>
      <p:sp>
        <p:nvSpPr>
          <p:cNvPr id="211" name="Google Shape;211;p28"/>
          <p:cNvSpPr/>
          <p:nvPr/>
        </p:nvSpPr>
        <p:spPr>
          <a:xfrm>
            <a:off x="8286750" y="4679156"/>
            <a:ext cx="39290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A9B6C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100"/>
          </a:p>
        </p:txBody>
      </p:sp>
      <p:sp>
        <p:nvSpPr>
          <p:cNvPr id="212" name="Google Shape;212;p28"/>
          <p:cNvSpPr/>
          <p:nvPr/>
        </p:nvSpPr>
        <p:spPr>
          <a:xfrm>
            <a:off x="557213" y="1500188"/>
            <a:ext cx="7929563" cy="107156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1E5C3"/>
                </a:solidFill>
                <a:latin typeface="Arial"/>
                <a:ea typeface="Arial"/>
                <a:cs typeface="Arial"/>
                <a:sym typeface="Arial"/>
              </a:rPr>
              <a:t>A headline becomes a starting point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91E5C3"/>
                </a:solidFill>
                <a:latin typeface="Arial"/>
                <a:ea typeface="Arial"/>
                <a:cs typeface="Arial"/>
                <a:sym typeface="Arial"/>
              </a:rPr>
              <a:t>for a more informed review.</a:t>
            </a:r>
            <a:endParaRPr sz="1100"/>
          </a:p>
        </p:txBody>
      </p:sp>
      <p:sp>
        <p:nvSpPr>
          <p:cNvPr id="213" name="Google Shape;213;p28"/>
          <p:cNvSpPr/>
          <p:nvPr/>
        </p:nvSpPr>
        <p:spPr>
          <a:xfrm>
            <a:off x="557213" y="3036094"/>
            <a:ext cx="7929563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9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rPr>
              <a:t>Users can compare different parts of the analysis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9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rPr>
              <a:t>and decide what needs a closer look.</a:t>
            </a:r>
            <a:endParaRPr sz="1100"/>
          </a:p>
        </p:txBody>
      </p:sp>
      <p:sp>
        <p:nvSpPr>
          <p:cNvPr id="214" name="Google Shape;214;p28"/>
          <p:cNvSpPr/>
          <p:nvPr/>
        </p:nvSpPr>
        <p:spPr>
          <a:xfrm>
            <a:off x="557213" y="4257675"/>
            <a:ext cx="7858125" cy="3214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A9B6C1"/>
                </a:solidFill>
                <a:latin typeface="Arial"/>
                <a:ea typeface="Arial"/>
                <a:cs typeface="Arial"/>
                <a:sym typeface="Arial"/>
              </a:rPr>
              <a:t>The user makes the final decision.</a:t>
            </a:r>
            <a:endParaRPr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2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/>
          <p:nvPr/>
        </p:nvSpPr>
        <p:spPr>
          <a:xfrm>
            <a:off x="542925" y="464344"/>
            <a:ext cx="8072438" cy="8215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B1826"/>
                </a:solidFill>
                <a:latin typeface="Arial"/>
                <a:ea typeface="Arial"/>
                <a:cs typeface="Arial"/>
                <a:sym typeface="Arial"/>
              </a:rPr>
              <a:t>How the app could be built</a:t>
            </a:r>
            <a:endParaRPr sz="1100"/>
          </a:p>
        </p:txBody>
      </p:sp>
      <p:sp>
        <p:nvSpPr>
          <p:cNvPr id="221" name="Google Shape;221;p29"/>
          <p:cNvSpPr/>
          <p:nvPr/>
        </p:nvSpPr>
        <p:spPr>
          <a:xfrm>
            <a:off x="8286750" y="4679156"/>
            <a:ext cx="39290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50606D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1100"/>
          </a:p>
        </p:txBody>
      </p:sp>
      <p:sp>
        <p:nvSpPr>
          <p:cNvPr id="222" name="Google Shape;222;p29"/>
          <p:cNvSpPr/>
          <p:nvPr/>
        </p:nvSpPr>
        <p:spPr>
          <a:xfrm>
            <a:off x="557213" y="1235869"/>
            <a:ext cx="8001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50606D"/>
                </a:solidFill>
                <a:latin typeface="Arial"/>
                <a:ea typeface="Arial"/>
                <a:cs typeface="Arial"/>
                <a:sym typeface="Arial"/>
              </a:rPr>
              <a:t>Proposed setup. Current code has not been verified</a:t>
            </a:r>
            <a:endParaRPr sz="1100"/>
          </a:p>
        </p:txBody>
      </p:sp>
      <p:sp>
        <p:nvSpPr>
          <p:cNvPr id="223" name="Google Shape;223;p29"/>
          <p:cNvSpPr/>
          <p:nvPr/>
        </p:nvSpPr>
        <p:spPr>
          <a:xfrm>
            <a:off x="557212" y="1785938"/>
            <a:ext cx="2571750" cy="4643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25765E"/>
                </a:solidFill>
                <a:latin typeface="Arial"/>
                <a:ea typeface="Arial"/>
                <a:cs typeface="Arial"/>
                <a:sym typeface="Arial"/>
              </a:rPr>
              <a:t>JavaScript / TypeScript</a:t>
            </a:r>
            <a:endParaRPr sz="1100"/>
          </a:p>
        </p:txBody>
      </p:sp>
      <p:sp>
        <p:nvSpPr>
          <p:cNvPr id="224" name="Google Shape;224;p29"/>
          <p:cNvSpPr/>
          <p:nvPr/>
        </p:nvSpPr>
        <p:spPr>
          <a:xfrm>
            <a:off x="3321844" y="1785938"/>
            <a:ext cx="5000625" cy="5357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0B1826"/>
                </a:solidFill>
                <a:latin typeface="Arial"/>
                <a:ea typeface="Arial"/>
                <a:cs typeface="Arial"/>
                <a:sym typeface="Arial"/>
              </a:rPr>
              <a:t>The main code controls how the app works.</a:t>
            </a:r>
            <a:endParaRPr sz="1100"/>
          </a:p>
        </p:txBody>
      </p:sp>
      <p:sp>
        <p:nvSpPr>
          <p:cNvPr id="225" name="Google Shape;225;p29"/>
          <p:cNvSpPr/>
          <p:nvPr/>
        </p:nvSpPr>
        <p:spPr>
          <a:xfrm>
            <a:off x="557212" y="2407444"/>
            <a:ext cx="2571750" cy="4643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25765E"/>
                </a:solidFill>
                <a:latin typeface="Arial"/>
                <a:ea typeface="Arial"/>
                <a:cs typeface="Arial"/>
                <a:sym typeface="Arial"/>
              </a:rPr>
              <a:t>HTML and CSS</a:t>
            </a:r>
            <a:endParaRPr sz="1100"/>
          </a:p>
        </p:txBody>
      </p:sp>
      <p:sp>
        <p:nvSpPr>
          <p:cNvPr id="226" name="Google Shape;226;p29"/>
          <p:cNvSpPr/>
          <p:nvPr/>
        </p:nvSpPr>
        <p:spPr>
          <a:xfrm>
            <a:off x="3321844" y="2407444"/>
            <a:ext cx="5000625" cy="5357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0B1826"/>
                </a:solidFill>
                <a:latin typeface="Arial"/>
                <a:ea typeface="Arial"/>
                <a:cs typeface="Arial"/>
                <a:sym typeface="Arial"/>
              </a:rPr>
              <a:t>Structure and styling create the pages users see.</a:t>
            </a:r>
            <a:endParaRPr sz="1100"/>
          </a:p>
        </p:txBody>
      </p:sp>
      <p:sp>
        <p:nvSpPr>
          <p:cNvPr id="227" name="Google Shape;227;p29"/>
          <p:cNvSpPr/>
          <p:nvPr/>
        </p:nvSpPr>
        <p:spPr>
          <a:xfrm>
            <a:off x="557212" y="3028950"/>
            <a:ext cx="2571750" cy="4643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25765E"/>
                </a:solidFill>
                <a:latin typeface="Arial"/>
                <a:ea typeface="Arial"/>
                <a:cs typeface="Arial"/>
                <a:sym typeface="Arial"/>
              </a:rPr>
              <a:t>Node.js server</a:t>
            </a:r>
            <a:endParaRPr sz="1100"/>
          </a:p>
        </p:txBody>
      </p:sp>
      <p:sp>
        <p:nvSpPr>
          <p:cNvPr id="228" name="Google Shape;228;p29"/>
          <p:cNvSpPr/>
          <p:nvPr/>
        </p:nvSpPr>
        <p:spPr>
          <a:xfrm>
            <a:off x="3321844" y="3028950"/>
            <a:ext cx="5000625" cy="5357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0B1826"/>
                </a:solidFill>
                <a:latin typeface="Arial"/>
                <a:ea typeface="Arial"/>
                <a:cs typeface="Arial"/>
                <a:sym typeface="Arial"/>
              </a:rPr>
              <a:t>The server handles requests and connects to the AI.</a:t>
            </a:r>
            <a:endParaRPr sz="1100"/>
          </a:p>
        </p:txBody>
      </p:sp>
      <p:sp>
        <p:nvSpPr>
          <p:cNvPr id="229" name="Google Shape;229;p29"/>
          <p:cNvSpPr/>
          <p:nvPr/>
        </p:nvSpPr>
        <p:spPr>
          <a:xfrm>
            <a:off x="557212" y="3650456"/>
            <a:ext cx="2571750" cy="4643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25765E"/>
                </a:solidFill>
                <a:latin typeface="Arial"/>
                <a:ea typeface="Arial"/>
                <a:cs typeface="Arial"/>
                <a:sym typeface="Arial"/>
              </a:rPr>
              <a:t>AI connection</a:t>
            </a:r>
            <a:endParaRPr sz="1100"/>
          </a:p>
        </p:txBody>
      </p:sp>
      <p:sp>
        <p:nvSpPr>
          <p:cNvPr id="230" name="Google Shape;230;p29"/>
          <p:cNvSpPr/>
          <p:nvPr/>
        </p:nvSpPr>
        <p:spPr>
          <a:xfrm>
            <a:off x="3321844" y="3650456"/>
            <a:ext cx="5000625" cy="5357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0B1826"/>
                </a:solidFill>
                <a:latin typeface="Arial"/>
                <a:ea typeface="Arial"/>
                <a:cs typeface="Arial"/>
                <a:sym typeface="Arial"/>
              </a:rPr>
              <a:t>An API sends article text for analysis and returns results.</a:t>
            </a:r>
            <a:endParaRPr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826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/>
          <p:cNvSpPr/>
          <p:nvPr/>
        </p:nvSpPr>
        <p:spPr>
          <a:xfrm>
            <a:off x="542925" y="464344"/>
            <a:ext cx="8072438" cy="8215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37" name="Google Shape;237;p30"/>
          <p:cNvSpPr/>
          <p:nvPr/>
        </p:nvSpPr>
        <p:spPr>
          <a:xfrm>
            <a:off x="8286750" y="4679156"/>
            <a:ext cx="39290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A9B6C1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sz="1100"/>
          </a:p>
        </p:txBody>
      </p:sp>
      <p:sp>
        <p:nvSpPr>
          <p:cNvPr id="238" name="Google Shape;238;p30"/>
          <p:cNvSpPr/>
          <p:nvPr/>
        </p:nvSpPr>
        <p:spPr>
          <a:xfrm>
            <a:off x="557213" y="1035844"/>
            <a:ext cx="7929563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900">
                <a:solidFill>
                  <a:srgbClr val="91E5C3"/>
                </a:solidFill>
                <a:latin typeface="Arial"/>
                <a:ea typeface="Arial"/>
                <a:cs typeface="Arial"/>
                <a:sym typeface="Arial"/>
              </a:rPr>
              <a:t>MARKET TRUTH</a:t>
            </a:r>
            <a:endParaRPr sz="1100"/>
          </a:p>
        </p:txBody>
      </p:sp>
      <p:sp>
        <p:nvSpPr>
          <p:cNvPr id="239" name="Google Shape;239;p30"/>
          <p:cNvSpPr/>
          <p:nvPr/>
        </p:nvSpPr>
        <p:spPr>
          <a:xfrm>
            <a:off x="557213" y="2135981"/>
            <a:ext cx="8001000" cy="121443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rPr>
              <a:t>Helping people understand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rPr>
              <a:t>what is behind a headline</a:t>
            </a:r>
            <a:endParaRPr sz="1100"/>
          </a:p>
        </p:txBody>
      </p:sp>
      <p:sp>
        <p:nvSpPr>
          <p:cNvPr id="240" name="Google Shape;240;p30"/>
          <p:cNvSpPr/>
          <p:nvPr/>
        </p:nvSpPr>
        <p:spPr>
          <a:xfrm>
            <a:off x="557213" y="4021931"/>
            <a:ext cx="7500938" cy="50006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A9B6C1"/>
                </a:solidFill>
              </a:rPr>
              <a:t>Thank You!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